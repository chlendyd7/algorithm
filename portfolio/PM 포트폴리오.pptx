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59" r:id="rId6"/>
    <p:sldId id="263" r:id="rId7"/>
    <p:sldId id="265" r:id="rId8"/>
    <p:sldId id="264" r:id="rId9"/>
    <p:sldId id="261" r:id="rId10"/>
    <p:sldId id="262" r:id="rId11"/>
  </p:sldIdLst>
  <p:sldSz cx="9144000" cy="5143500" type="screen16x9"/>
  <p:notesSz cx="7104063" cy="102346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0" autoAdjust="0"/>
  </p:normalViewPr>
  <p:slideViewPr>
    <p:cSldViewPr snapToGrid="0">
      <p:cViewPr>
        <p:scale>
          <a:sx n="75" d="100"/>
          <a:sy n="75" d="100"/>
        </p:scale>
        <p:origin x="1704" y="1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개선 전</c:v>
                </c:pt>
              </c:strCache>
            </c:strRef>
          </c:tx>
          <c:spPr>
            <a:solidFill>
              <a:srgbClr val="475D77"/>
            </a:solidFill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회의 준비·진행 공수 (상대 지수)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0D-4BD3-941A-F84DA5901FB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개선 후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회의 준비·진행 공수 (상대 지수)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1"/>
                <c:pt idx="0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A0D-4BD3-941A-F84DA5901FB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DB2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E3D6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DB2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DB2C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04570" cy="513508"/>
          </a:xfrm>
          <a:prstGeom prst="rect">
            <a:avLst/>
          </a:prstGeom>
        </p:spPr>
        <p:txBody>
          <a:bodyPr vert="horz" lIns="110962" tIns="55481" rIns="110962" bIns="55481" rtlCol="0"/>
          <a:lstStyle>
            <a:lvl1pPr algn="l">
              <a:defRPr sz="15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65322" y="0"/>
            <a:ext cx="4104570" cy="513508"/>
          </a:xfrm>
          <a:prstGeom prst="rect">
            <a:avLst/>
          </a:prstGeom>
        </p:spPr>
        <p:txBody>
          <a:bodyPr vert="horz" lIns="110962" tIns="55481" rIns="110962" bIns="55481" rtlCol="0"/>
          <a:lstStyle>
            <a:lvl1pPr algn="r">
              <a:defRPr sz="1500"/>
            </a:lvl1pPr>
          </a:lstStyle>
          <a:p>
            <a:fld id="{5282F153-3F37-0F45-9E97-73ACFA13230C}" type="datetimeFigureOut">
              <a:rPr lang="en-US"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65288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10962" tIns="55481" rIns="110962" bIns="5548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47209" y="4925407"/>
            <a:ext cx="7577667" cy="4029879"/>
          </a:xfrm>
          <a:prstGeom prst="rect">
            <a:avLst/>
          </a:prstGeom>
        </p:spPr>
        <p:txBody>
          <a:bodyPr vert="horz" lIns="110962" tIns="55481" rIns="110962" bIns="5548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4104570" cy="513507"/>
          </a:xfrm>
          <a:prstGeom prst="rect">
            <a:avLst/>
          </a:prstGeom>
        </p:spPr>
        <p:txBody>
          <a:bodyPr vert="horz" lIns="110962" tIns="55481" rIns="110962" bIns="55481" rtlCol="0" anchor="b"/>
          <a:lstStyle>
            <a:lvl1pPr algn="l">
              <a:defRPr sz="15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65322" y="9721107"/>
            <a:ext cx="4104570" cy="513507"/>
          </a:xfrm>
          <a:prstGeom prst="rect">
            <a:avLst/>
          </a:prstGeom>
        </p:spPr>
        <p:txBody>
          <a:bodyPr vert="horz" lIns="110962" tIns="55481" rIns="110962" bIns="55481" rtlCol="0" anchor="b"/>
          <a:lstStyle>
            <a:lvl1pPr algn="r">
              <a:defRPr sz="15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E9CC1-C706-0F49-92D6-E571CC5EEA8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191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047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828800"/>
            <a:ext cx="7863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78638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8928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325880"/>
            <a:ext cx="146304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0080" y="914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BFD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MANAGER PORTFOLIO</a:t>
            </a:r>
            <a:endParaRPr lang="en-US" sz="1300" dirty="0"/>
          </a:p>
        </p:txBody>
      </p:sp>
      <p:sp>
        <p:nvSpPr>
          <p:cNvPr id="18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8288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 포트폴리오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40080" y="2834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dirty="0">
                <a:solidFill>
                  <a:srgbClr val="D6E2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경험을 갖춘 제조 </a:t>
            </a:r>
            <a:r>
              <a:rPr lang="en-US" sz="1600" dirty="0">
                <a:solidFill>
                  <a:srgbClr val="D6E2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 PM  |  </a:t>
            </a:r>
            <a:r>
              <a:rPr lang="ko-KR" altLang="en-US" sz="1600" dirty="0">
                <a:solidFill>
                  <a:srgbClr val="D6E2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운영 및 개발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최두용</a:t>
            </a:r>
            <a:r>
              <a:rPr lang="en-US" sz="1300" dirty="0">
                <a:solidFill>
                  <a:srgbClr val="BFD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|  chlendyd7@gmail.com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소개 및 핵심 역량</a:t>
            </a:r>
            <a:endParaRPr lang="en-US" sz="2600" dirty="0"/>
          </a:p>
        </p:txBody>
      </p:sp>
      <p:sp>
        <p:nvSpPr>
          <p:cNvPr id="1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1005840" cy="41148"/>
          </a:xfrm>
          <a:prstGeom prst="rect">
            <a:avLst/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ME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15087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ko-KR" altLang="en-US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현대위아</a:t>
            </a:r>
            <a:r>
              <a:rPr lang="ko-KR" altLang="en-US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ICT</a:t>
            </a:r>
            <a:r>
              <a:rPr lang="ko-KR" altLang="en-US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추진팀에서 </a:t>
            </a:r>
            <a:r>
              <a:rPr lang="en-US" altLang="ko-KR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</a:t>
            </a:r>
            <a:r>
              <a:rPr lang="en-US" altLang="ko-KR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유지보수와 </a:t>
            </a:r>
            <a:r>
              <a:rPr lang="en-US" altLang="ko-KR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</a:t>
            </a:r>
            <a:r>
              <a:rPr lang="ko-KR" altLang="en-US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맡아 시스템 구축</a:t>
            </a:r>
            <a:r>
              <a:rPr lang="en-US" altLang="ko-KR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라인 이설</a:t>
            </a:r>
            <a:r>
              <a:rPr lang="en-US" altLang="ko-KR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연동 과제를 수행하고 있습니다</a:t>
            </a:r>
            <a:r>
              <a:rPr lang="en-US" altLang="ko-KR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0" indent="0">
              <a:lnSpc>
                <a:spcPts val="2000"/>
              </a:lnSpc>
              <a:buNone/>
            </a:pPr>
            <a:r>
              <a:rPr lang="ko-KR" altLang="en-US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경험을 바탕으로 연동 구조를 이해하고</a:t>
            </a:r>
            <a:r>
              <a:rPr lang="en-US" altLang="ko-KR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</a:t>
            </a:r>
            <a:r>
              <a:rPr lang="en-US" altLang="ko-KR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</a:t>
            </a:r>
            <a:r>
              <a:rPr lang="en-US" altLang="ko-KR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사이의 기준을 문서로 정리해 합의를 만듭니다</a:t>
            </a:r>
            <a:r>
              <a:rPr lang="en-US" altLang="ko-KR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100" dirty="0"/>
          </a:p>
        </p:txBody>
      </p:sp>
      <p:sp>
        <p:nvSpPr>
          <p:cNvPr id="20" name="card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331720"/>
            <a:ext cx="3794760" cy="960120"/>
          </a:xfrm>
          <a:prstGeom prst="rect">
            <a:avLst/>
          </a:prstGeom>
          <a:solidFill>
            <a:srgbClr val="F3F7FD"/>
          </a:solidFill>
          <a:ln w="12700">
            <a:solidFill>
              <a:srgbClr val="DCE5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card accent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331720"/>
            <a:ext cx="54864" cy="960120"/>
          </a:xfrm>
          <a:prstGeom prst="rect">
            <a:avLst/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68680" y="2450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관리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27706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 </a:t>
            </a:r>
            <a:r>
              <a:rPr lang="ko-KR" altLang="en-US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</a:t>
            </a:r>
            <a:r>
              <a:rPr lang="en-US" altLang="ko-KR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라인 이설 등 제조 </a:t>
            </a:r>
            <a:r>
              <a:rPr lang="en-US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 </a:t>
            </a:r>
            <a:r>
              <a:rPr lang="ko-KR" altLang="en-US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과제의 범위</a:t>
            </a:r>
            <a:r>
              <a:rPr lang="en-US" altLang="ko-KR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</a:t>
            </a:r>
            <a:r>
              <a:rPr lang="en-US" altLang="ko-KR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관리</a:t>
            </a:r>
            <a:endParaRPr lang="en-US" sz="1100" dirty="0"/>
          </a:p>
        </p:txBody>
      </p:sp>
      <p:sp>
        <p:nvSpPr>
          <p:cNvPr id="24" name="card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2331720"/>
            <a:ext cx="3794760" cy="960120"/>
          </a:xfrm>
          <a:prstGeom prst="rect">
            <a:avLst/>
          </a:prstGeom>
          <a:solidFill>
            <a:srgbClr val="F3F7FD"/>
          </a:solidFill>
          <a:ln w="12700">
            <a:solidFill>
              <a:srgbClr val="DCE5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card accent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2331720"/>
            <a:ext cx="54864" cy="960120"/>
          </a:xfrm>
          <a:prstGeom prst="rect">
            <a:avLst/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937760" y="2450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연동 설계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27706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ERP·WMS·MES </a:t>
            </a:r>
            <a:r>
              <a:rPr lang="ko-KR" altLang="en-US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및 설비</a:t>
            </a:r>
            <a:r>
              <a:rPr lang="en-US" altLang="ko-KR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en-US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SCADA </a:t>
            </a:r>
            <a:r>
              <a:rPr lang="ko-KR" altLang="en-US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인터페이스 정의</a:t>
            </a:r>
            <a:r>
              <a:rPr lang="en-US" altLang="ko-KR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기준 수립</a:t>
            </a:r>
            <a:endParaRPr lang="en-US" sz="1100" dirty="0"/>
          </a:p>
        </p:txBody>
      </p:sp>
      <p:sp>
        <p:nvSpPr>
          <p:cNvPr id="28" name="card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74720"/>
            <a:ext cx="3794760" cy="960120"/>
          </a:xfrm>
          <a:prstGeom prst="rect">
            <a:avLst/>
          </a:prstGeom>
          <a:solidFill>
            <a:srgbClr val="F3F7FD"/>
          </a:solidFill>
          <a:ln w="12700">
            <a:solidFill>
              <a:srgbClr val="DCE5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card accen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474720"/>
            <a:ext cx="54864" cy="960120"/>
          </a:xfrm>
          <a:prstGeom prst="rect">
            <a:avLst/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68680" y="3593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이해관계자 조율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68680" y="39136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</a:t>
            </a:r>
            <a:r>
              <a:rPr lang="en-US" altLang="ko-KR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자산운영팀</a:t>
            </a:r>
            <a:r>
              <a:rPr lang="en-US" altLang="ko-KR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업체</a:t>
            </a:r>
            <a:r>
              <a:rPr lang="en-US" altLang="ko-KR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 간 요구사항 조율 및 품의</a:t>
            </a:r>
            <a:r>
              <a:rPr lang="en-US" altLang="ko-KR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결재 진행</a:t>
            </a:r>
            <a:endParaRPr lang="en-US" sz="1100" dirty="0"/>
          </a:p>
        </p:txBody>
      </p:sp>
      <p:sp>
        <p:nvSpPr>
          <p:cNvPr id="32" name="card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3474720"/>
            <a:ext cx="3794760" cy="960120"/>
          </a:xfrm>
          <a:prstGeom prst="rect">
            <a:avLst/>
          </a:prstGeom>
          <a:solidFill>
            <a:srgbClr val="F3F7FD"/>
          </a:solidFill>
          <a:ln w="12700">
            <a:solidFill>
              <a:srgbClr val="DCE5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card accen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3474720"/>
            <a:ext cx="54864" cy="960120"/>
          </a:xfrm>
          <a:prstGeom prst="rect">
            <a:avLst/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937760" y="3593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이해도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937760" y="39136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</a:t>
            </a:r>
            <a:r>
              <a:rPr lang="en-US" altLang="ko-KR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개발 경험</a:t>
            </a:r>
            <a:r>
              <a:rPr lang="en-US" altLang="ko-KR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Spring, Kafka</a:t>
            </a:r>
            <a:r>
              <a:rPr lang="en-US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K8s) </a:t>
            </a:r>
            <a:r>
              <a:rPr lang="ko-KR" altLang="en-US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기술 의사결정 지원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경력 요약</a:t>
            </a:r>
            <a:endParaRPr lang="en-US" sz="2600" dirty="0"/>
          </a:p>
        </p:txBody>
      </p:sp>
      <p:sp>
        <p:nvSpPr>
          <p:cNvPr id="1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1005840" cy="41148"/>
          </a:xfrm>
          <a:prstGeom prst="rect">
            <a:avLst/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CAREER TIMELINE</a:t>
            </a:r>
            <a:endParaRPr lang="en-US" sz="1200" dirty="0"/>
          </a:p>
        </p:txBody>
      </p:sp>
      <p:sp>
        <p:nvSpPr>
          <p:cNvPr id="19" name="timeline axi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722376" y="2514599"/>
            <a:ext cx="7507224" cy="1"/>
          </a:xfrm>
          <a:prstGeom prst="line">
            <a:avLst/>
          </a:prstGeom>
          <a:noFill/>
          <a:ln w="25400">
            <a:solidFill>
              <a:srgbClr val="0047A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nod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432304"/>
            <a:ext cx="164592" cy="164592"/>
          </a:xfrm>
          <a:prstGeom prst="ellipse">
            <a:avLst/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008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 – 2024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2743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00" b="1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커머스 서비스 </a:t>
            </a:r>
            <a:r>
              <a:rPr lang="ko-KR" altLang="en-US" sz="1300" b="1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</a:t>
            </a:r>
            <a:endParaRPr lang="en-US" altLang="ko-KR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309067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</a:t>
            </a:r>
            <a:r>
              <a:rPr lang="en-US" altLang="ko-KR" sz="105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</a:t>
            </a:r>
            <a:r>
              <a:rPr lang="ko-KR" altLang="en-US" sz="10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5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</a:t>
            </a:r>
            <a:r>
              <a:rPr lang="ko-KR" altLang="en-US" sz="10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ko-KR" altLang="en-US" sz="1050">
              <a:solidFill>
                <a:srgbClr val="5B6B7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altLang="en-US" sz="105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기능 및</a:t>
            </a:r>
            <a:r>
              <a:rPr lang="ko-KR" altLang="en-US" sz="10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요구사항 명세화</a:t>
            </a:r>
            <a:endParaRPr lang="en-US" altLang="ko-KR" sz="1050" dirty="0">
              <a:solidFill>
                <a:srgbClr val="5B6B7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24" name="nod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10128" y="2432304"/>
            <a:ext cx="164592" cy="164592"/>
          </a:xfrm>
          <a:prstGeom prst="ellipse">
            <a:avLst/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310128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 – 2026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10128" y="2743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</a:rPr>
              <a:t>SSAFY </a:t>
            </a:r>
            <a:r>
              <a:rPr lang="ko-KR" altLang="en-US" sz="1300" b="1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</a:rPr>
              <a:t>팀장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10128" y="309067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ko-KR" altLang="en-US" sz="105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</a:t>
            </a:r>
            <a:r>
              <a:rPr lang="ko-KR" altLang="en-US" sz="10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팀장 수행</a:t>
            </a:r>
            <a:endParaRPr lang="ko-KR" altLang="en-US" sz="1050">
              <a:solidFill>
                <a:srgbClr val="5B6B7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ko-KR" altLang="en-US" sz="10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최우수</a:t>
            </a:r>
            <a:r>
              <a:rPr lang="en-US" altLang="ko-KR" sz="105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우수 프로젝트 수상</a:t>
            </a:r>
            <a:endParaRPr lang="en-US" sz="1050"/>
          </a:p>
        </p:txBody>
      </p:sp>
      <p:sp>
        <p:nvSpPr>
          <p:cNvPr id="28" name="nod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6208" y="2445003"/>
            <a:ext cx="164592" cy="164592"/>
          </a:xfrm>
          <a:prstGeom prst="ellipse">
            <a:avLst/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98932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200" b="1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– </a:t>
            </a:r>
            <a:r>
              <a:rPr lang="ko-KR" altLang="en-US" sz="1200" b="1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89320" y="2743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ICT </a:t>
            </a:r>
            <a:r>
              <a:rPr lang="ko-KR" altLang="en-US" sz="1300" b="1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</a:t>
            </a:r>
            <a:r>
              <a:rPr lang="en-US" sz="1300" b="1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89320" y="309067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50" dirty="0" err="1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현대위아</a:t>
            </a:r>
            <a:r>
              <a:rPr lang="ko-KR" altLang="en-US" sz="10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ICT</a:t>
            </a:r>
            <a:r>
              <a:rPr lang="ko-KR" altLang="en-US" sz="1050" dirty="0" err="1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추진팀</a:t>
            </a:r>
            <a:r>
              <a:rPr lang="ko-KR" altLang="en-US" sz="10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 </a:t>
            </a:r>
            <a:r>
              <a:rPr lang="ko-KR" altLang="en-US" sz="10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</a:t>
            </a:r>
          </a:p>
          <a:p>
            <a:r>
              <a:rPr lang="en-US" altLang="ko-KR" sz="10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 </a:t>
            </a:r>
            <a:r>
              <a:rPr lang="ko-KR" altLang="en-US" sz="10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중심 구축</a:t>
            </a:r>
            <a:r>
              <a:rPr lang="en-US" altLang="ko-KR" sz="10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이설</a:t>
            </a:r>
            <a:r>
              <a:rPr lang="en-US" altLang="ko-KR" sz="10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과제 담당</a:t>
            </a:r>
            <a:endParaRPr lang="en-US" altLang="ko-KR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 </a:t>
            </a:r>
            <a:r>
              <a:rPr lang="ko-KR" altLang="en-US" sz="2600" b="1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</a:t>
            </a:r>
            <a:r>
              <a:rPr lang="ko-KR" altLang="en-US" sz="2600" b="1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및 </a:t>
            </a:r>
            <a:r>
              <a:rPr lang="ko-KR" altLang="en-US" sz="2600" b="1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</a:t>
            </a:r>
            <a:r>
              <a:rPr lang="ko-KR" altLang="en-US" sz="2600" b="1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 인터페이스 표준화</a:t>
            </a:r>
            <a:endParaRPr lang="en-US" sz="2600" dirty="0"/>
          </a:p>
        </p:txBody>
      </p:sp>
      <p:sp>
        <p:nvSpPr>
          <p:cNvPr id="1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1005840" cy="41148"/>
          </a:xfrm>
          <a:prstGeom prst="rect">
            <a:avLst/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01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148132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 </a:t>
            </a:r>
            <a:r>
              <a:rPr lang="ko-KR" altLang="en-US" sz="115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유지보수 및 </a:t>
            </a:r>
            <a:r>
              <a:rPr lang="en-US" sz="11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  |  </a:t>
            </a:r>
            <a:r>
              <a:rPr lang="en-US" sz="115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ERP·WMS</a:t>
            </a:r>
            <a:r>
              <a:rPr lang="en-US" sz="11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en-US" sz="115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 </a:t>
            </a:r>
            <a:r>
              <a:rPr lang="ko-KR" altLang="en-US" sz="115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 </a:t>
            </a:r>
            <a:r>
              <a:rPr lang="en-US" altLang="ko-KR" sz="115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 </a:t>
            </a:r>
            <a:r>
              <a:rPr lang="ko-KR" altLang="en-US" sz="115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인터페이스 정의서 수립</a:t>
            </a:r>
            <a:r>
              <a:rPr lang="en-US" altLang="ko-KR" sz="115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5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표준화</a:t>
            </a:r>
            <a:endParaRPr lang="en-US" sz="1150" dirty="0"/>
          </a:p>
        </p:txBody>
      </p:sp>
      <p:sp>
        <p:nvSpPr>
          <p:cNvPr id="20" name="label box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965960"/>
            <a:ext cx="1371600" cy="868680"/>
          </a:xfrm>
          <a:prstGeom prst="rect">
            <a:avLst/>
          </a:prstGeom>
          <a:solidFill>
            <a:srgbClr val="F3F7FD"/>
          </a:solidFill>
          <a:ln w="12700">
            <a:solidFill>
              <a:srgbClr val="DCE5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0080" y="19659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48840" y="2011680"/>
            <a:ext cx="6355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ko-KR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ERP·WMS·MES </a:t>
            </a: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담당자가 각자 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요구사항만 </a:t>
            </a: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제시해 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지점에서 </a:t>
            </a: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혼선이 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논의가 되풀이되며 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</a:t>
            </a: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생산성 저하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r>
              <a:rPr lang="en-US" altLang="ko-KR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</a:t>
            </a:r>
            <a:r>
              <a:rPr lang="en-US" altLang="ko-KR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시점 기준을 통일할 필요</a:t>
            </a:r>
            <a:endParaRPr lang="en-US" sz="1150" dirty="0"/>
          </a:p>
        </p:txBody>
      </p:sp>
      <p:sp>
        <p:nvSpPr>
          <p:cNvPr id="23" name="label box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971800"/>
            <a:ext cx="1371600" cy="868680"/>
          </a:xfrm>
          <a:prstGeom prst="rect">
            <a:avLst/>
          </a:prstGeom>
          <a:solidFill>
            <a:srgbClr val="F3F7FD"/>
          </a:solidFill>
          <a:ln w="12700">
            <a:solidFill>
              <a:srgbClr val="DCE5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40080" y="29718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154555" y="3017520"/>
            <a:ext cx="6355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회의록</a:t>
            </a:r>
            <a:r>
              <a:rPr lang="en-US" altLang="ko-KR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자료를 분석해 반복되는 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유형 파악</a:t>
            </a:r>
            <a:endParaRPr lang="ko-KR" altLang="en-US" sz="1150">
              <a:solidFill>
                <a:srgbClr val="12263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담당자별 필요 데이터</a:t>
            </a:r>
            <a:r>
              <a:rPr lang="en-US" altLang="ko-KR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기능을 </a:t>
            </a: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정리해 </a:t>
            </a: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회의를 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확인과 결정</a:t>
            </a: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중심으로 전환</a:t>
            </a:r>
            <a:endParaRPr lang="ko-KR" altLang="en-US" sz="1150" dirty="0">
              <a:solidFill>
                <a:srgbClr val="12263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</a:t>
            </a: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프로세스를 시각화하고 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시스템별 데이터 형식</a:t>
            </a:r>
            <a:r>
              <a:rPr lang="en-US" altLang="ko-KR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시점을 인터페이스 정의서로 </a:t>
            </a: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표준화</a:t>
            </a:r>
            <a:endParaRPr lang="en-US" sz="1150" dirty="0"/>
          </a:p>
        </p:txBody>
      </p:sp>
      <p:sp>
        <p:nvSpPr>
          <p:cNvPr id="26" name="label box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977640"/>
            <a:ext cx="1371600" cy="868680"/>
          </a:xfrm>
          <a:prstGeom prst="rect">
            <a:avLst/>
          </a:prstGeom>
          <a:solidFill>
            <a:srgbClr val="F3F7FD"/>
          </a:solidFill>
          <a:ln w="12700">
            <a:solidFill>
              <a:srgbClr val="DCE5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40080" y="39776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148840" y="4023360"/>
            <a:ext cx="6355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준비</a:t>
            </a:r>
            <a:r>
              <a:rPr lang="en-US" altLang="ko-KR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공수 </a:t>
            </a:r>
            <a:r>
              <a:rPr lang="en-US" altLang="ko-KR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50% 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절감</a:t>
            </a:r>
            <a:r>
              <a:rPr lang="en-US" altLang="ko-KR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관련 재확인 문의 감소</a:t>
            </a:r>
            <a:endParaRPr lang="en-US" altLang="ko-KR" sz="1150" dirty="0">
              <a:solidFill>
                <a:srgbClr val="12263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초당 약 </a:t>
            </a:r>
            <a:r>
              <a:rPr lang="en-US" altLang="ko-KR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5,000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 설비 데이터 안정 처리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정의서를 </a:t>
            </a:r>
            <a:r>
              <a:rPr 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Confluence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문서화해 이후 연동 작업의 공통 기준으로 재사용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2600" b="1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 </a:t>
            </a:r>
            <a:r>
              <a:rPr lang="ko-KR" altLang="en-US" sz="2600" b="1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</a:t>
            </a:r>
            <a:r>
              <a:rPr lang="en-US" altLang="ko-KR" sz="2600" b="1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2600" b="1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이설 대응</a:t>
            </a:r>
            <a:endParaRPr lang="en-US" sz="2600" dirty="0"/>
          </a:p>
        </p:txBody>
      </p:sp>
      <p:sp>
        <p:nvSpPr>
          <p:cNvPr id="1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1005840" cy="41148"/>
          </a:xfrm>
          <a:prstGeom prst="rect">
            <a:avLst/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148132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'26.7 ~ </a:t>
            </a:r>
            <a:r>
              <a:rPr lang="en-US" sz="115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'27.3</a:t>
            </a:r>
            <a:r>
              <a:rPr lang="en-US" sz="11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|  PM  |  S/W 13.25 M/M  |  </a:t>
            </a:r>
            <a:r>
              <a:rPr lang="ko-KR" altLang="en-US" sz="11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투자비용 </a:t>
            </a:r>
            <a:r>
              <a:rPr lang="en-US" altLang="ko-KR" sz="11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2.2</a:t>
            </a:r>
            <a:r>
              <a:rPr lang="ko-KR" altLang="en-US" sz="115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억원</a:t>
            </a:r>
            <a:endParaRPr lang="en-US" sz="1150" dirty="0"/>
          </a:p>
        </p:txBody>
      </p:sp>
      <p:sp>
        <p:nvSpPr>
          <p:cNvPr id="20" name="label box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965960"/>
            <a:ext cx="1371600" cy="868680"/>
          </a:xfrm>
          <a:prstGeom prst="rect">
            <a:avLst/>
          </a:prstGeom>
          <a:solidFill>
            <a:srgbClr val="F3F7FD"/>
          </a:solidFill>
          <a:ln w="12700">
            <a:solidFill>
              <a:srgbClr val="DCE5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0080" y="19659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</a:rPr>
              <a:t>과제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48840" y="2035908"/>
            <a:ext cx="6355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신기종 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냉각수 모듈 양산 </a:t>
            </a: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대응을 위한 조립 </a:t>
            </a:r>
            <a:r>
              <a:rPr lang="en-US" altLang="ko-KR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라인 구축</a:t>
            </a:r>
            <a:r>
              <a:rPr lang="en-US" altLang="ko-KR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이설</a:t>
            </a:r>
            <a:endParaRPr lang="ko-KR" altLang="en-US" sz="1150" dirty="0">
              <a:solidFill>
                <a:srgbClr val="12263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ko-KR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MES·</a:t>
            </a: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연동 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및 물류 자동화</a:t>
            </a: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필요</a:t>
            </a:r>
            <a:endParaRPr lang="en-US" altLang="ko-KR" sz="1150" dirty="0">
              <a:solidFill>
                <a:srgbClr val="12263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23" name="label box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971800"/>
            <a:ext cx="1371600" cy="868680"/>
          </a:xfrm>
          <a:prstGeom prst="rect">
            <a:avLst/>
          </a:prstGeom>
          <a:solidFill>
            <a:srgbClr val="F3F7FD"/>
          </a:solidFill>
          <a:ln w="12700">
            <a:solidFill>
              <a:srgbClr val="DCE5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40080" y="29718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</a:rPr>
              <a:t>실행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148840" y="3017520"/>
            <a:ext cx="6355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ko-KR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S/W(</a:t>
            </a:r>
            <a:r>
              <a:rPr lang="en-US" altLang="ko-KR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13.25 M</a:t>
            </a:r>
            <a:r>
              <a:rPr lang="en-US" altLang="ko-KR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/M) : 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라인 기능 구축</a:t>
            </a:r>
            <a:r>
              <a:rPr lang="en-US" altLang="ko-KR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작업지시</a:t>
            </a:r>
            <a:r>
              <a:rPr lang="en-US" altLang="ko-KR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공정트래킹</a:t>
            </a:r>
            <a:r>
              <a:rPr lang="en-US" altLang="ko-KR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품질수집 실시간 설비연동</a:t>
            </a:r>
            <a:r>
              <a:rPr lang="en-US" altLang="ko-KR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), 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물류창고 연동</a:t>
            </a:r>
            <a:r>
              <a:rPr lang="en-US" altLang="ko-KR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리워크</a:t>
            </a:r>
            <a:r>
              <a:rPr lang="en-US" altLang="ko-KR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대차관리 기능 개선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ko-KR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H/W : 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무선 </a:t>
            </a:r>
            <a:r>
              <a:rPr lang="en-US" altLang="ko-KR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 4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 구매</a:t>
            </a:r>
            <a:r>
              <a:rPr lang="en-US" altLang="ko-KR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</a:t>
            </a:r>
            <a:r>
              <a:rPr lang="en-US" altLang="ko-KR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공사 </a:t>
            </a:r>
            <a:r>
              <a:rPr lang="en-US" altLang="ko-KR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</a:t>
            </a:r>
            <a:endParaRPr lang="en-US" sz="1150" dirty="0"/>
          </a:p>
        </p:txBody>
      </p:sp>
      <p:sp>
        <p:nvSpPr>
          <p:cNvPr id="26" name="label box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977640"/>
            <a:ext cx="1371600" cy="868680"/>
          </a:xfrm>
          <a:prstGeom prst="rect">
            <a:avLst/>
          </a:prstGeom>
          <a:solidFill>
            <a:srgbClr val="F3F7FD"/>
          </a:solidFill>
          <a:ln w="12700">
            <a:solidFill>
              <a:srgbClr val="DCE5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40080" y="39776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</a:t>
            </a:r>
            <a:br>
              <a:rPr lang="en-US" altLang="ko-KR" sz="1300" b="1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altLang="ko-KR" sz="1300" b="1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300" b="1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중</a:t>
            </a:r>
            <a:r>
              <a:rPr lang="en-US" altLang="ko-KR" sz="1300" b="1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300" dirty="0"/>
          </a:p>
        </p:txBody>
      </p:sp>
      <p:sp>
        <p:nvSpPr>
          <p:cNvPr id="31" name="Text 23">
            <a:extLst>
              <a:ext uri="{FF2B5EF4-FFF2-40B4-BE49-F238E27FC236}">
                <a16:creationId xmlns:a16="http://schemas.microsoft.com/office/drawing/2014/main" id="{9117D0CD-E1CD-0E00-0F95-F01BE14BFF93}"/>
              </a:ext>
            </a:extLst>
          </p:cNvPr>
          <p:cNvSpPr/>
          <p:nvPr/>
        </p:nvSpPr>
        <p:spPr>
          <a:xfrm>
            <a:off x="2194560" y="3958589"/>
            <a:ext cx="6355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 요청사항</a:t>
            </a:r>
            <a:r>
              <a:rPr lang="en-US" altLang="ko-KR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공사</a:t>
            </a:r>
            <a:r>
              <a:rPr lang="en-US" altLang="ko-KR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무선 </a:t>
            </a:r>
            <a:r>
              <a:rPr lang="en-US" altLang="ko-KR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 </a:t>
            </a:r>
            <a:r>
              <a:rPr lang="ko-KR" altLang="en-US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위치 등 인프라 범위</a:t>
            </a:r>
            <a:r>
              <a:rPr lang="en-US" altLang="ko-KR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ko-KR" altLang="en-US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및 설치 조건 정리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이설 대상 라인의 기존 </a:t>
            </a:r>
            <a:r>
              <a:rPr lang="en-US" altLang="ko-KR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MES·</a:t>
            </a:r>
            <a:r>
              <a:rPr lang="ko-KR" altLang="en-US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설비연동 현황과 물류 요구사항을 검토해 변경 범위를 문서화</a:t>
            </a:r>
            <a:endParaRPr lang="en-US" altLang="ko-KR" sz="1050" dirty="0">
              <a:solidFill>
                <a:srgbClr val="12263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착수 기준 마련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600" b="1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창원 </a:t>
            </a:r>
            <a:r>
              <a:rPr lang="en-US" sz="2600" b="1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SCADA </a:t>
            </a:r>
            <a:r>
              <a:rPr lang="ko-KR" altLang="en-US" sz="2600" b="1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 계량기 네트워크 공사 및 개발</a:t>
            </a:r>
            <a:endParaRPr lang="en-US" sz="2600"/>
          </a:p>
        </p:txBody>
      </p:sp>
      <p:sp>
        <p:nvSpPr>
          <p:cNvPr id="1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1005840" cy="41148"/>
          </a:xfrm>
          <a:prstGeom prst="rect">
            <a:avLst/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03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640080" y="148132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1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'26.7 ~ '26.12  |  </a:t>
            </a:r>
            <a:r>
              <a:rPr lang="ko-KR" altLang="en-US" sz="11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단독 수행 </a:t>
            </a:r>
            <a:r>
              <a:rPr lang="en-US" sz="11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  |  S/W 1.98 M/M  |  </a:t>
            </a:r>
            <a:r>
              <a:rPr lang="ko-KR" altLang="en-US" sz="11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투자비용 </a:t>
            </a:r>
            <a:r>
              <a:rPr lang="en-US" altLang="ko-KR" sz="11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0.51</a:t>
            </a:r>
            <a:r>
              <a:rPr lang="ko-KR" altLang="en-US" sz="115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억원</a:t>
            </a:r>
            <a:endParaRPr lang="en-US" sz="1150" dirty="0"/>
          </a:p>
        </p:txBody>
      </p:sp>
      <p:sp>
        <p:nvSpPr>
          <p:cNvPr id="20" name="label box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965960"/>
            <a:ext cx="1371600" cy="868680"/>
          </a:xfrm>
          <a:prstGeom prst="rect">
            <a:avLst/>
          </a:prstGeom>
          <a:solidFill>
            <a:srgbClr val="F3F7FD"/>
          </a:solidFill>
          <a:ln w="12700">
            <a:solidFill>
              <a:srgbClr val="DCE5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0080" y="19659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2148840" y="2011680"/>
            <a:ext cx="6355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노후 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계측 </a:t>
            </a: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보완을 위한 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</a:t>
            </a: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 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 사용 현황 파악을 위한 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데이터 수집 범위 확대</a:t>
            </a:r>
            <a:endParaRPr lang="en-US" sz="1150" dirty="0"/>
          </a:p>
        </p:txBody>
      </p:sp>
      <p:sp>
        <p:nvSpPr>
          <p:cNvPr id="23" name="label box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971800"/>
            <a:ext cx="1371600" cy="868680"/>
          </a:xfrm>
          <a:prstGeom prst="rect">
            <a:avLst/>
          </a:prstGeom>
          <a:solidFill>
            <a:srgbClr val="F3F7FD"/>
          </a:solidFill>
          <a:ln w="12700">
            <a:solidFill>
              <a:srgbClr val="DCE5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40080" y="29718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2154555" y="3017520"/>
            <a:ext cx="6355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</a:t>
            </a:r>
            <a:r>
              <a:rPr lang="en-US" altLang="ko-KR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자산운영팀</a:t>
            </a:r>
            <a:r>
              <a:rPr lang="en-US" altLang="ko-KR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정리한 추진 범위를 확인하고 시행 업체 견적 취합</a:t>
            </a:r>
            <a:r>
              <a:rPr lang="en-US" altLang="ko-KR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검토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 품의 작성 및 </a:t>
            </a:r>
            <a:r>
              <a:rPr lang="en-US" altLang="ko-KR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ICT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내부 프로세스에 따른 결재 진행</a:t>
            </a:r>
            <a:endParaRPr lang="en-US" altLang="ko-KR" sz="1150" dirty="0">
              <a:solidFill>
                <a:srgbClr val="12263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공사</a:t>
            </a:r>
            <a:r>
              <a:rPr lang="en-US" altLang="ko-KR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일정 조율</a:t>
            </a:r>
            <a:r>
              <a:rPr lang="en-US" altLang="ko-KR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공사</a:t>
            </a:r>
            <a:r>
              <a:rPr lang="en-US" altLang="ko-KR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 등록</a:t>
            </a:r>
            <a:r>
              <a:rPr lang="en-US" altLang="ko-KR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개발</a:t>
            </a:r>
            <a:r>
              <a:rPr lang="en-US" altLang="ko-KR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12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완료 보고</a:t>
            </a:r>
            <a:r>
              <a:rPr lang="en-US" altLang="ko-KR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150" dirty="0"/>
          </a:p>
        </p:txBody>
      </p:sp>
      <p:sp>
        <p:nvSpPr>
          <p:cNvPr id="26" name="label box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977640"/>
            <a:ext cx="1371600" cy="868680"/>
          </a:xfrm>
          <a:prstGeom prst="rect">
            <a:avLst/>
          </a:prstGeom>
          <a:solidFill>
            <a:srgbClr val="F3F7FD"/>
          </a:solidFill>
          <a:ln w="12700">
            <a:solidFill>
              <a:srgbClr val="DCE5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40080" y="39776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</a:t>
            </a:r>
            <a:endParaRPr lang="en-US" sz="1300" b="1" dirty="0">
              <a:solidFill>
                <a:srgbClr val="0047A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ko-KR" altLang="en-US" sz="1300" b="1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</a:rPr>
              <a:t>진행 중</a:t>
            </a:r>
            <a:r>
              <a:rPr lang="en-US" altLang="ko-KR" sz="1300" b="1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</a:rPr>
              <a:t>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148840" y="4023360"/>
            <a:ext cx="6355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개발 </a:t>
            </a:r>
            <a:r>
              <a:rPr lang="en-US" altLang="ko-KR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20,988</a:t>
            </a:r>
            <a:r>
              <a:rPr lang="ko-KR" altLang="en-US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천원 </a:t>
            </a:r>
            <a:r>
              <a:rPr lang="en-US" altLang="ko-KR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r>
              <a:rPr lang="ko-KR" altLang="en-US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공사 </a:t>
            </a:r>
            <a:r>
              <a:rPr lang="en-US" altLang="ko-KR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29,338</a:t>
            </a:r>
            <a:r>
              <a:rPr lang="ko-KR" altLang="en-US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천원 총 </a:t>
            </a:r>
            <a:r>
              <a:rPr lang="en-US" altLang="ko-KR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0.51</a:t>
            </a:r>
            <a:r>
              <a:rPr lang="ko-KR" altLang="en-US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억원 규모 투자 품의 작성 및 집행 관리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2600" b="1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ICT </a:t>
            </a:r>
            <a:r>
              <a:rPr lang="ko-KR" altLang="en-US" sz="2600" b="1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 실사 </a:t>
            </a:r>
            <a:r>
              <a:rPr lang="en-US" altLang="ko-KR" sz="2600" b="1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(ERP </a:t>
            </a:r>
            <a:r>
              <a:rPr lang="ko-KR" altLang="en-US" sz="2600" b="1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자산 </a:t>
            </a:r>
            <a:r>
              <a:rPr lang="en-US" altLang="ko-KR" sz="2600" b="1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13,636</a:t>
            </a:r>
            <a:r>
              <a:rPr lang="ko-KR" altLang="en-US" sz="2600" b="1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</a:t>
            </a:r>
            <a:r>
              <a:rPr lang="en-US" altLang="ko-KR" sz="2600" b="1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2600"/>
          </a:p>
        </p:txBody>
      </p:sp>
      <p:sp>
        <p:nvSpPr>
          <p:cNvPr id="1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1005840" cy="41148"/>
          </a:xfrm>
          <a:prstGeom prst="rect">
            <a:avLst/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148132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15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'26 </a:t>
            </a:r>
            <a:r>
              <a:rPr lang="ko-KR" altLang="en-US" sz="115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상반기  </a:t>
            </a:r>
            <a:r>
              <a:rPr lang="en-US" altLang="ko-KR" sz="115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 </a:t>
            </a:r>
            <a:r>
              <a:rPr lang="ko-KR" altLang="en-US" sz="115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단독 수행 </a:t>
            </a:r>
            <a:r>
              <a:rPr lang="en-US" altLang="ko-KR" sz="115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  |  </a:t>
            </a:r>
            <a:r>
              <a:rPr lang="ko-KR" altLang="en-US" sz="115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정기 과제  </a:t>
            </a:r>
            <a:r>
              <a:rPr lang="en-US" altLang="ko-KR" sz="115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 </a:t>
            </a:r>
            <a:r>
              <a:rPr lang="ko-KR" altLang="en-US" sz="115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자산 </a:t>
            </a:r>
            <a:r>
              <a:rPr lang="en-US" altLang="ko-KR" sz="115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13,636</a:t>
            </a:r>
            <a:r>
              <a:rPr lang="ko-KR" altLang="en-US" sz="115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</a:t>
            </a:r>
            <a:endParaRPr lang="en-US" sz="1150"/>
          </a:p>
        </p:txBody>
      </p:sp>
      <p:sp>
        <p:nvSpPr>
          <p:cNvPr id="20" name="label box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965960"/>
            <a:ext cx="1371600" cy="868680"/>
          </a:xfrm>
          <a:prstGeom prst="rect">
            <a:avLst/>
          </a:prstGeom>
          <a:solidFill>
            <a:srgbClr val="F3F7FD"/>
          </a:solidFill>
          <a:ln w="12700">
            <a:solidFill>
              <a:srgbClr val="DCE5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0080" y="19659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2148840" y="2011680"/>
            <a:ext cx="6355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ko-KR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 </a:t>
            </a: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자산 </a:t>
            </a:r>
            <a:r>
              <a:rPr lang="en-US" altLang="ko-KR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13,636</a:t>
            </a: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건에 대한 연간 실사 요청</a:t>
            </a:r>
            <a:r>
              <a:rPr lang="en-US" altLang="ko-KR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회신 취합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 관리 프로그램</a:t>
            </a:r>
            <a:r>
              <a:rPr lang="en-US" altLang="ko-KR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협력업체 운영</a:t>
            </a:r>
            <a:r>
              <a:rPr lang="en-US" altLang="ko-KR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r>
              <a:rPr lang="en-US" altLang="ko-KR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 </a:t>
            </a: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명세의 기준이 달라 전수 대조 시 공수 과다</a:t>
            </a:r>
            <a:endParaRPr lang="en-US" sz="1150"/>
          </a:p>
        </p:txBody>
      </p:sp>
      <p:sp>
        <p:nvSpPr>
          <p:cNvPr id="23" name="label box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971800"/>
            <a:ext cx="1371600" cy="868680"/>
          </a:xfrm>
          <a:prstGeom prst="rect">
            <a:avLst/>
          </a:prstGeom>
          <a:solidFill>
            <a:srgbClr val="F3F7FD"/>
          </a:solidFill>
          <a:ln w="12700">
            <a:solidFill>
              <a:srgbClr val="DCE5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40080" y="29718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2154555" y="3017520"/>
            <a:ext cx="6355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전년도</a:t>
            </a:r>
            <a:r>
              <a:rPr lang="en-US" altLang="ko-KR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(25</a:t>
            </a: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년</a:t>
            </a:r>
            <a:r>
              <a:rPr lang="en-US" altLang="ko-KR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 결과를 기준선으로 삼아 </a:t>
            </a:r>
            <a:r>
              <a:rPr lang="en-US" altLang="ko-KR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년 명세서와 대조</a:t>
            </a:r>
            <a:r>
              <a:rPr lang="en-US" altLang="ko-KR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</a:t>
            </a:r>
            <a:r>
              <a:rPr lang="en-US" altLang="ko-KR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변동 자산만 차분 추출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 관리 프로그램 미등록 장비를 별도 분류</a:t>
            </a:r>
            <a:r>
              <a:rPr lang="en-US" altLang="ko-KR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(SORT)</a:t>
            </a: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실사 대상을 축소하고 담당 협력업체에 실사 요청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ko-KR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년 명세에는 있으나 </a:t>
            </a:r>
            <a:r>
              <a:rPr lang="en-US" altLang="ko-KR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년 자료에 없는 자산을 역방향으로 추적해 누락 여부 재확인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회신 결과에서 미확인</a:t>
            </a:r>
            <a:r>
              <a:rPr lang="en-US" altLang="ko-KR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불일치 건을 이슈로 분리해 후속 조치 대상 정리</a:t>
            </a:r>
            <a:endParaRPr lang="en-US" sz="1150"/>
          </a:p>
        </p:txBody>
      </p:sp>
      <p:sp>
        <p:nvSpPr>
          <p:cNvPr id="26" name="label box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977640"/>
            <a:ext cx="1371600" cy="868680"/>
          </a:xfrm>
          <a:prstGeom prst="rect">
            <a:avLst/>
          </a:prstGeom>
          <a:solidFill>
            <a:srgbClr val="F3F7FD"/>
          </a:solidFill>
          <a:ln w="12700">
            <a:solidFill>
              <a:srgbClr val="DCE5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40080" y="39776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2148840" y="4023360"/>
            <a:ext cx="6355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대조 </a:t>
            </a:r>
            <a:r>
              <a:rPr lang="ko-KR" altLang="en-US" sz="10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대신 차분 기준 실사로 </a:t>
            </a:r>
            <a:r>
              <a:rPr lang="ko-KR" altLang="en-US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</a:t>
            </a:r>
            <a:r>
              <a:rPr lang="ko-KR" altLang="en-US" sz="105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범위를 축소하고</a:t>
            </a:r>
            <a:r>
              <a:rPr lang="en-US" altLang="ko-KR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 이슈 </a:t>
            </a:r>
            <a:r>
              <a:rPr lang="en-US" altLang="ko-KR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589</a:t>
            </a:r>
            <a:r>
              <a:rPr lang="ko-KR" altLang="en-US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건을 목록화해 담당</a:t>
            </a:r>
            <a:r>
              <a:rPr lang="en-US" altLang="ko-KR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 기준 확보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2600" b="1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Click-CEO </a:t>
            </a:r>
            <a:r>
              <a:rPr lang="ko-KR" altLang="en-US" sz="2600" b="1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시뮬레이션 서비스 </a:t>
            </a:r>
            <a:r>
              <a:rPr lang="en-US" altLang="ko-KR" sz="2600" b="1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(SSAFY)</a:t>
            </a:r>
            <a:endParaRPr lang="en-US" sz="2600"/>
          </a:p>
        </p:txBody>
      </p:sp>
      <p:sp>
        <p:nvSpPr>
          <p:cNvPr id="1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1005840" cy="41148"/>
          </a:xfrm>
          <a:prstGeom prst="rect">
            <a:avLst/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SIDE PROJECT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148132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15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'26.2 ~ '26.4  |  </a:t>
            </a:r>
            <a:r>
              <a:rPr lang="ko-KR" altLang="en-US" sz="115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팀장 </a:t>
            </a:r>
            <a:r>
              <a:rPr lang="en-US" altLang="ko-KR" sz="115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</a:t>
            </a:r>
            <a:r>
              <a:rPr lang="ko-KR" altLang="en-US" sz="115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 </a:t>
            </a:r>
            <a:r>
              <a:rPr lang="en-US" altLang="ko-KR" sz="115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BE/DE/FE)  |  BE·Infra </a:t>
            </a:r>
            <a:r>
              <a:rPr lang="ko-KR" altLang="en-US" sz="115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 </a:t>
            </a:r>
            <a:r>
              <a:rPr lang="en-US" altLang="ko-KR" sz="115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 </a:t>
            </a:r>
            <a:r>
              <a:rPr lang="ko-KR" altLang="en-US" sz="115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우수 프로젝트 선정</a:t>
            </a:r>
            <a:endParaRPr lang="en-US" sz="1150"/>
          </a:p>
        </p:txBody>
      </p:sp>
      <p:sp>
        <p:nvSpPr>
          <p:cNvPr id="20" name="label box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965960"/>
            <a:ext cx="1371600" cy="868680"/>
          </a:xfrm>
          <a:prstGeom prst="rect">
            <a:avLst/>
          </a:prstGeom>
          <a:solidFill>
            <a:srgbClr val="F3F7FD"/>
          </a:solidFill>
          <a:ln w="12700">
            <a:solidFill>
              <a:srgbClr val="DCE5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0080" y="19659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2148840" y="2011680"/>
            <a:ext cx="6355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1050" dirty="0" err="1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호가창</a:t>
            </a:r>
            <a:r>
              <a:rPr lang="ko-KR" altLang="en-US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기반 실시간 시뮬레이션 특성상 주문 집계</a:t>
            </a:r>
            <a:r>
              <a:rPr lang="en-US" altLang="ko-KR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모니터링의 성능과 안정성이 과제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ko-KR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r>
              <a:rPr lang="ko-KR" altLang="en-US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 팀이 짧은 기간 안에 역할 분담과 기술 의사결정 기준을 빠르게 잡아야 하는 상황</a:t>
            </a:r>
            <a:endParaRPr lang="en-US" sz="1050" dirty="0"/>
          </a:p>
        </p:txBody>
      </p:sp>
      <p:sp>
        <p:nvSpPr>
          <p:cNvPr id="23" name="label box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971800"/>
            <a:ext cx="1371600" cy="868680"/>
          </a:xfrm>
          <a:prstGeom prst="rect">
            <a:avLst/>
          </a:prstGeom>
          <a:solidFill>
            <a:srgbClr val="F3F7FD"/>
          </a:solidFill>
          <a:ln w="12700">
            <a:solidFill>
              <a:srgbClr val="DCE5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40080" y="29718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2154555" y="3017520"/>
            <a:ext cx="6355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ko-KR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Jira </a:t>
            </a:r>
            <a:r>
              <a:rPr lang="ko-KR" altLang="en-US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이슈</a:t>
            </a:r>
            <a:r>
              <a:rPr lang="en-US" altLang="ko-KR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관리</a:t>
            </a:r>
            <a:r>
              <a:rPr lang="en-US" altLang="ko-KR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파트별</a:t>
            </a:r>
            <a:r>
              <a:rPr lang="en-US" altLang="ko-KR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(BE/DE/FE) </a:t>
            </a:r>
            <a:r>
              <a:rPr lang="ko-KR" altLang="en-US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분담과 우선순위 조율</a:t>
            </a:r>
            <a:r>
              <a:rPr lang="en-US" altLang="ko-KR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의사결정 논의 주도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제약을 고려해 </a:t>
            </a:r>
            <a:r>
              <a:rPr lang="en-US" altLang="ko-KR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MSA 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분리 대신 스케줄 제어</a:t>
            </a:r>
            <a:r>
              <a:rPr lang="en-US" altLang="ko-KR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1150" dirty="0" err="1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ShedLock</a:t>
            </a:r>
            <a:r>
              <a:rPr lang="en-US" altLang="ko-KR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1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선택하는 등 실행 가능한 대안으로 범위 조정</a:t>
            </a:r>
            <a:endParaRPr lang="en-US" sz="1150" dirty="0"/>
          </a:p>
        </p:txBody>
      </p:sp>
      <p:sp>
        <p:nvSpPr>
          <p:cNvPr id="26" name="label box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977640"/>
            <a:ext cx="1371600" cy="868680"/>
          </a:xfrm>
          <a:prstGeom prst="rect">
            <a:avLst/>
          </a:prstGeom>
          <a:solidFill>
            <a:srgbClr val="F3F7FD"/>
          </a:solidFill>
          <a:ln w="12700">
            <a:solidFill>
              <a:srgbClr val="DCE5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40080" y="39776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2148840" y="4023360"/>
            <a:ext cx="6355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ko-KR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Polling → WebSocket </a:t>
            </a:r>
            <a:r>
              <a:rPr lang="ko-KR" altLang="en-US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과정의 연결 실패율 </a:t>
            </a:r>
            <a:r>
              <a:rPr lang="en-US" altLang="ko-KR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44% → 0% (</a:t>
            </a:r>
            <a:r>
              <a:rPr lang="ko-KR" altLang="en-US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 스레드 분리</a:t>
            </a:r>
            <a:r>
              <a:rPr lang="en-US" altLang="ko-KR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Redis </a:t>
            </a:r>
            <a:r>
              <a:rPr lang="en-US" altLang="ko-KR" sz="1050" dirty="0" err="1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Stream·Kafka</a:t>
            </a:r>
            <a:r>
              <a:rPr lang="en-US" altLang="ko-KR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부하 분산</a:t>
            </a:r>
            <a:r>
              <a:rPr lang="en-US" altLang="ko-KR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ko-KR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Jenkins·K8s </a:t>
            </a:r>
            <a:r>
              <a:rPr lang="ko-KR" altLang="en-US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</a:t>
            </a:r>
            <a:r>
              <a:rPr lang="ko-KR" altLang="en-US" sz="1050" dirty="0" err="1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무중단</a:t>
            </a:r>
            <a:r>
              <a:rPr lang="ko-KR" altLang="en-US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배포 및 테스트 자동화 구축</a:t>
            </a:r>
            <a:r>
              <a:rPr lang="en-US" altLang="ko-KR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050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과정 우수 프로젝트 선정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성과 지표</a:t>
            </a:r>
            <a:endParaRPr lang="en-US" sz="2600" dirty="0"/>
          </a:p>
        </p:txBody>
      </p:sp>
      <p:sp>
        <p:nvSpPr>
          <p:cNvPr id="1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1005840" cy="41148"/>
          </a:xfrm>
          <a:prstGeom prst="rect">
            <a:avLst/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RESULTS</a:t>
            </a:r>
            <a:endParaRPr lang="en-US" sz="1200" dirty="0"/>
          </a:p>
        </p:txBody>
      </p:sp>
      <p:sp>
        <p:nvSpPr>
          <p:cNvPr id="19" name="kpi box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554480"/>
            <a:ext cx="2423160" cy="1051560"/>
          </a:xfrm>
          <a:prstGeom prst="rect">
            <a:avLst/>
          </a:prstGeom>
          <a:solidFill>
            <a:srgbClr val="F3F7FD"/>
          </a:solidFill>
          <a:ln w="12700">
            <a:solidFill>
              <a:srgbClr val="DCE5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0080" y="16642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50%↑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40080" y="21488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준비</a:t>
            </a:r>
            <a:r>
              <a:rPr lang="en-US" altLang="ko-KR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공수 절감</a:t>
            </a:r>
            <a:endParaRPr lang="en-US" sz="1100" dirty="0"/>
          </a:p>
        </p:txBody>
      </p:sp>
      <p:sp>
        <p:nvSpPr>
          <p:cNvPr id="22" name="kpi box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37560" y="1554480"/>
            <a:ext cx="2423160" cy="1051560"/>
          </a:xfrm>
          <a:prstGeom prst="rect">
            <a:avLst/>
          </a:prstGeom>
          <a:solidFill>
            <a:srgbClr val="F3F7FD"/>
          </a:solidFill>
          <a:ln w="12700">
            <a:solidFill>
              <a:srgbClr val="DCE5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337560" y="16642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2600" b="1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0.51</a:t>
            </a:r>
            <a:r>
              <a:rPr lang="ko-KR" altLang="en-US" sz="2600" b="1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억원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337560" y="21488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품의 작성</a:t>
            </a:r>
            <a:r>
              <a:rPr lang="en-US" altLang="ko-KR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 단독 수행</a:t>
            </a:r>
            <a:endParaRPr lang="en-US" sz="1100" dirty="0"/>
          </a:p>
        </p:txBody>
      </p:sp>
      <p:sp>
        <p:nvSpPr>
          <p:cNvPr id="25" name="kpi box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1554480"/>
            <a:ext cx="2423160" cy="1051560"/>
          </a:xfrm>
          <a:prstGeom prst="rect">
            <a:avLst/>
          </a:prstGeom>
          <a:solidFill>
            <a:srgbClr val="F3F7FD"/>
          </a:solidFill>
          <a:ln w="12700">
            <a:solidFill>
              <a:srgbClr val="DCE5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035040" y="16642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2600" b="1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13,636</a:t>
            </a:r>
            <a:r>
              <a:rPr lang="ko-KR" altLang="en-US" sz="2600" b="1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035040" y="21488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 실사 관리 </a:t>
            </a:r>
            <a:r>
              <a:rPr lang="en-US" altLang="ko-KR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r>
              <a:rPr lang="ko-KR" altLang="en-US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</a:t>
            </a:r>
            <a:r>
              <a:rPr lang="en-US" altLang="ko-KR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589</a:t>
            </a:r>
            <a:r>
              <a:rPr lang="ko-KR" altLang="en-US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 정리</a:t>
            </a:r>
            <a:endParaRPr lang="en-US" sz="1100" dirty="0"/>
          </a:p>
        </p:txBody>
      </p:sp>
      <p:graphicFrame>
        <p:nvGraphicFramePr>
          <p:cNvPr id="28" name="개선 전후 비교 차트" descr="막대 차트: 결제 이탈률 38%→21%, 평균 복구 시간 4.5시간→1.2시간, 배포 주기 6주→2주"/>
          <p:cNvGraphicFramePr/>
          <p:nvPr>
            <p:extLst>
              <p:ext uri="{D42A27DB-BD31-4B8C-83A1-F6EECF244321}">
                <p14:modId xmlns:p14="http://schemas.microsoft.com/office/powerpoint/2010/main" val="3830090032"/>
              </p:ext>
            </p:extLst>
          </p:nvPr>
        </p:nvGraphicFramePr>
        <p:xfrm>
          <a:off x="640080" y="2834640"/>
          <a:ext cx="786384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11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일하는 방식</a:t>
            </a:r>
            <a:endParaRPr lang="en-US" sz="2600" dirty="0"/>
          </a:p>
        </p:txBody>
      </p:sp>
      <p:sp>
        <p:nvSpPr>
          <p:cNvPr id="1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024128"/>
            <a:ext cx="1005840" cy="41148"/>
          </a:xfrm>
          <a:prstGeom prst="rect">
            <a:avLst/>
          </a:prstGeom>
          <a:solidFill>
            <a:srgbClr val="0047AB"/>
          </a:solidFill>
          <a:ln w="12700">
            <a:solidFill>
              <a:srgbClr val="0047A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I WORK</a:t>
            </a:r>
            <a:endParaRPr lang="en-US" sz="1200" dirty="0"/>
          </a:p>
        </p:txBody>
      </p:sp>
      <p:sp>
        <p:nvSpPr>
          <p:cNvPr id="19" name="row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600200"/>
            <a:ext cx="7863840" cy="777240"/>
          </a:xfrm>
          <a:prstGeom prst="rect">
            <a:avLst/>
          </a:prstGeom>
          <a:solidFill>
            <a:srgbClr val="F3F7FD"/>
          </a:solidFill>
          <a:ln w="12700">
            <a:solidFill>
              <a:srgbClr val="DCE5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22960" y="160020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00200" y="16002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먼저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08960" y="16002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논의 전에 항목</a:t>
            </a:r>
            <a:r>
              <a:rPr lang="en-US" altLang="ko-KR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</a:t>
            </a:r>
            <a:r>
              <a:rPr lang="en-US" altLang="ko-KR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시점 기준을 정리해</a:t>
            </a:r>
            <a:r>
              <a:rPr lang="en-US" altLang="ko-KR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회의는 확인과 결정 위주로 진행합니다</a:t>
            </a:r>
            <a:r>
              <a:rPr lang="en-US" altLang="ko-KR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100" dirty="0"/>
          </a:p>
        </p:txBody>
      </p:sp>
      <p:sp>
        <p:nvSpPr>
          <p:cNvPr id="23" name="row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2560320"/>
            <a:ext cx="7863840" cy="777240"/>
          </a:xfrm>
          <a:prstGeom prst="rect">
            <a:avLst/>
          </a:prstGeom>
          <a:solidFill>
            <a:srgbClr val="F3F7FD"/>
          </a:solidFill>
          <a:ln w="12700">
            <a:solidFill>
              <a:srgbClr val="DCE5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22960" y="256032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00200" y="25603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확인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108960" y="25603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</a:t>
            </a:r>
            <a:r>
              <a:rPr lang="en-US" altLang="ko-KR" sz="12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2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</a:t>
            </a:r>
            <a:r>
              <a:rPr lang="en-US" altLang="ko-KR" sz="12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2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요청사항을 직접 확인해 실행 가능한 범위로 정리합니다</a:t>
            </a:r>
            <a:r>
              <a:rPr lang="en-US" altLang="ko-KR" sz="12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00" dirty="0"/>
          </a:p>
        </p:txBody>
      </p:sp>
      <p:sp>
        <p:nvSpPr>
          <p:cNvPr id="27" name="row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3520440"/>
            <a:ext cx="7863840" cy="777240"/>
          </a:xfrm>
          <a:prstGeom prst="rect">
            <a:avLst/>
          </a:prstGeom>
          <a:solidFill>
            <a:srgbClr val="F3F7FD"/>
          </a:solidFill>
          <a:ln w="12700">
            <a:solidFill>
              <a:srgbClr val="DCE5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22960" y="352044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00200" y="35204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>
                <a:solidFill>
                  <a:srgbClr val="122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108960" y="35204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인터페이스 </a:t>
            </a:r>
            <a:r>
              <a:rPr lang="ko-KR" altLang="en-US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정의서</a:t>
            </a:r>
            <a:r>
              <a:rPr lang="en-US" altLang="ko-KR" sz="110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회의록을 남겨 이후 과제의 공통 기준으로 재사용합니다</a:t>
            </a:r>
            <a:r>
              <a:rPr lang="en-US" altLang="ko-KR" sz="1100" dirty="0">
                <a:solidFill>
                  <a:srgbClr val="5B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  </a:t>
            </a:r>
            <a:r>
              <a:rPr lang="en-US" altLang="ko-KR" sz="120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 </a:t>
            </a:r>
            <a:r>
              <a:rPr lang="ko-KR" altLang="en-US" sz="120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최두용  </a:t>
            </a:r>
            <a:r>
              <a:rPr lang="en-US" altLang="ko-KR" sz="120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 </a:t>
            </a:r>
            <a:r>
              <a:rPr lang="en-US" sz="120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chlendyd7</a:t>
            </a:r>
            <a:r>
              <a:rPr lang="en-US" sz="1200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</a:t>
            </a:r>
            <a:r>
              <a:rPr lang="en-US" sz="120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gmail</a:t>
            </a:r>
            <a:r>
              <a:rPr lang="en-US" sz="1200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230cd02f-714d-4653-8382-0ecf5aacd0fa}" enabled="1" method="Privileged" siteId="{9682717c-e5aa-4e3f-ae88-3507a84b4611}" contentBits="6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115</TotalTime>
  <Words>965</Words>
  <Application>Microsoft Office PowerPoint</Application>
  <PresentationFormat>화면 슬라이드 쇼(16:9)</PresentationFormat>
  <Paragraphs>124</Paragraphs>
  <Slides>10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Malgun Gothic</vt:lpstr>
      <vt:lpstr>Arial</vt:lpstr>
      <vt:lpstr>Calibri</vt:lpstr>
      <vt:lpstr>Office Theme</vt:lpstr>
      <vt:lpstr>PM 포트폴리오</vt:lpstr>
      <vt:lpstr>소개 및 핵심 역량</vt:lpstr>
      <vt:lpstr>경력 요약</vt:lpstr>
      <vt:lpstr>MES 운영 및 시스템 간 인터페이스 표준화</vt:lpstr>
      <vt:lpstr>MES 구축·이설 대응</vt:lpstr>
      <vt:lpstr>창원 SCADA 전력 계량기 네트워크 공사 및 개발</vt:lpstr>
      <vt:lpstr>ICT 자산 실사 (ERP 등록 자산 13,636건)</vt:lpstr>
      <vt:lpstr>Click-CEO 실시간 시뮬레이션 서비스 (SSAFY)</vt:lpstr>
      <vt:lpstr>주요 성과 지표</vt:lpstr>
      <vt:lpstr>일하는 방식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최두용 매니저 ICT추진팀</dc:creator>
  <cp:lastModifiedBy>최두용 매니저 ICT추진팀</cp:lastModifiedBy>
  <cp:revision>9</cp:revision>
  <dcterms:created xsi:type="dcterms:W3CDTF">2026-08-28T00:58:13Z</dcterms:created>
  <dcterms:modified xsi:type="dcterms:W3CDTF">2026-08-28T04:10:22Z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Theme:4</vt:lpwstr>
  </property>
  <property fmtid="{D5CDD505-2E9C-101B-9397-08002B2CF9AE}" pid="3" name="ClassificationContentMarkingFooterText">
    <vt:lpwstr>외부 전송용(No Protection) 최두용 매니저 ICT추진팀 chlendyd7@hyundai-wia.com 2026-08-28T11:49:06 본 문서는 현대위아(주)의 정보 자산으로써 무단으로 전제 및 복제할 수 없으며, 이를 위반할 시에는 당사 사규 및 관련 법규에 의해 제재를 받을 수 있습니다.</vt:lpwstr>
  </property>
  <property fmtid="{D5CDD505-2E9C-101B-9397-08002B2CF9AE}" pid="4" name="ClassificationWatermarkLocations">
    <vt:lpwstr>Office Theme:5</vt:lpwstr>
  </property>
  <property fmtid="{D5CDD505-2E9C-101B-9397-08002B2CF9AE}" pid="5" name="ClassificationWatermarkText">
    <vt:lpwstr>현대위아 외부 전송용(No Protection) 최두용 매니저 ICT추진팀</vt:lpwstr>
  </property>
</Properties>
</file>